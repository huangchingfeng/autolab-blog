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00193"/>
            <a:ext cx="89545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用 Gems 打造你的專屬 AI 員工團隊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6260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個最實用的 Gems 設定，培訓一次，終身受用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280654"/>
            <a:ext cx="3711297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4403050"/>
            <a:ext cx="181451" cy="1814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2055" y="4348639"/>
            <a:ext cx="316694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 GEMS 完整設定教學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93790" y="5075429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93790" y="53665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講師：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AI峰哥（黃敬峰）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autolab.cloud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7353"/>
            <a:ext cx="4800600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關於講師：AI峰哥（黃敬峰）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379696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企業 AI 實戰培訓專家，交點文化 創辦人。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7705" y="1681996"/>
            <a:ext cx="5213509" cy="3732967"/>
          </a:xfrm>
          <a:prstGeom prst="roundRect">
            <a:avLst>
              <a:gd name="adj" fmla="val 2844"/>
            </a:avLst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835104" y="177772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授課實績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695926" y="2189559"/>
            <a:ext cx="3197066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400+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372916" y="282154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企業與機關合作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95926" y="3317200"/>
            <a:ext cx="3197066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372916" y="394918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場次課程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695926" y="4444841"/>
            <a:ext cx="3197066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10,000+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372916" y="507682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學員人次見證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62318" y="177772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教學理念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162318" y="2103834"/>
            <a:ext cx="768179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堅持「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會用、懂用、好用、每天用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」的教學心法。不只教操作，更強調 Prompt 工程思維與工作流設計。</a:t>
            </a:r>
            <a:endParaRPr lang="en-US" sz="11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563" y="2410658"/>
            <a:ext cx="221099" cy="22109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641425" y="240613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深入淺出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41425" y="2732246"/>
            <a:ext cx="330184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用真實案例拆解複雜概念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288" y="2410658"/>
            <a:ext cx="221099" cy="22109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42151" y="240613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實戰導向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10542151" y="2732246"/>
            <a:ext cx="330196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課堂即產出，帶走可立即應用的模板</a:t>
            </a:r>
            <a:endParaRPr lang="en-US" sz="11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7563" y="3122890"/>
            <a:ext cx="221099" cy="2210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41425" y="311836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產業客製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641425" y="3444478"/>
            <a:ext cx="720268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依企業情境設計演練，解決實際痛點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793790" y="555867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服務客戶（部分代表）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793790" y="5932765"/>
            <a:ext cx="13042821" cy="1569482"/>
          </a:xfrm>
          <a:prstGeom prst="roundRect">
            <a:avLst>
              <a:gd name="adj" fmla="val 394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1410" y="5940385"/>
            <a:ext cx="6513790" cy="777121"/>
          </a:xfrm>
          <a:prstGeom prst="roundRect">
            <a:avLst>
              <a:gd name="adj" fmla="val 7968"/>
            </a:avLst>
          </a:prstGeom>
          <a:solidFill>
            <a:srgbClr val="DADBF1"/>
          </a:solidFill>
          <a:ln/>
        </p:spPr>
      </p:sp>
      <p:sp>
        <p:nvSpPr>
          <p:cNvPr id="26" name="Text 21"/>
          <p:cNvSpPr/>
          <p:nvPr/>
        </p:nvSpPr>
        <p:spPr>
          <a:xfrm>
            <a:off x="948809" y="608778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科技業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948809" y="6375559"/>
            <a:ext cx="621899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華碩 ASUS、精誠資訊、蝦皮 Shopee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315200" y="5940385"/>
            <a:ext cx="6513790" cy="777121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29" name="Shape 24"/>
          <p:cNvSpPr/>
          <p:nvPr/>
        </p:nvSpPr>
        <p:spPr>
          <a:xfrm>
            <a:off x="7315200" y="5940385"/>
            <a:ext cx="15240" cy="777121"/>
          </a:xfrm>
          <a:prstGeom prst="roundRect">
            <a:avLst>
              <a:gd name="adj" fmla="val 406325"/>
            </a:avLst>
          </a:prstGeom>
          <a:solidFill>
            <a:srgbClr val="C0C1D7"/>
          </a:solidFill>
          <a:ln/>
        </p:spPr>
      </p:sp>
      <p:sp>
        <p:nvSpPr>
          <p:cNvPr id="30" name="Text 25"/>
          <p:cNvSpPr/>
          <p:nvPr/>
        </p:nvSpPr>
        <p:spPr>
          <a:xfrm>
            <a:off x="7462599" y="608778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金融業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7462599" y="6375559"/>
            <a:ext cx="621899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國泰人壽、南山人壽、華南銀行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801410" y="6717506"/>
            <a:ext cx="6513790" cy="777121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33" name="Shape 28"/>
          <p:cNvSpPr/>
          <p:nvPr/>
        </p:nvSpPr>
        <p:spPr>
          <a:xfrm>
            <a:off x="801410" y="6717506"/>
            <a:ext cx="6513790" cy="15240"/>
          </a:xfrm>
          <a:prstGeom prst="roundRect">
            <a:avLst>
              <a:gd name="adj" fmla="val 406325"/>
            </a:avLst>
          </a:prstGeom>
          <a:solidFill>
            <a:srgbClr val="C0C1D7"/>
          </a:solidFill>
          <a:ln/>
        </p:spPr>
      </p:sp>
      <p:sp>
        <p:nvSpPr>
          <p:cNvPr id="34" name="Text 29"/>
          <p:cNvSpPr/>
          <p:nvPr/>
        </p:nvSpPr>
        <p:spPr>
          <a:xfrm>
            <a:off x="948809" y="686490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製造業</a:t>
            </a:r>
            <a:endParaRPr lang="en-US" sz="1450" dirty="0"/>
          </a:p>
        </p:txBody>
      </p:sp>
      <p:sp>
        <p:nvSpPr>
          <p:cNvPr id="35" name="Text 30"/>
          <p:cNvSpPr/>
          <p:nvPr/>
        </p:nvSpPr>
        <p:spPr>
          <a:xfrm>
            <a:off x="948809" y="7152680"/>
            <a:ext cx="621899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台灣理光 RICOH、日商 TOTO、明緯電源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7315200" y="6717506"/>
            <a:ext cx="6513790" cy="777121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37" name="Shape 32"/>
          <p:cNvSpPr/>
          <p:nvPr/>
        </p:nvSpPr>
        <p:spPr>
          <a:xfrm>
            <a:off x="7315200" y="6717506"/>
            <a:ext cx="15240" cy="777121"/>
          </a:xfrm>
          <a:prstGeom prst="roundRect">
            <a:avLst>
              <a:gd name="adj" fmla="val 406325"/>
            </a:avLst>
          </a:prstGeom>
          <a:solidFill>
            <a:srgbClr val="C0C1D7"/>
          </a:solidFill>
          <a:ln/>
        </p:spPr>
      </p:sp>
      <p:sp>
        <p:nvSpPr>
          <p:cNvPr id="38" name="Shape 33"/>
          <p:cNvSpPr/>
          <p:nvPr/>
        </p:nvSpPr>
        <p:spPr>
          <a:xfrm>
            <a:off x="7315200" y="6717506"/>
            <a:ext cx="6513790" cy="15240"/>
          </a:xfrm>
          <a:prstGeom prst="roundRect">
            <a:avLst>
              <a:gd name="adj" fmla="val 406325"/>
            </a:avLst>
          </a:prstGeom>
          <a:solidFill>
            <a:srgbClr val="C0C1D7"/>
          </a:solidFill>
          <a:ln/>
        </p:spPr>
      </p:sp>
      <p:sp>
        <p:nvSpPr>
          <p:cNvPr id="39" name="Text 34"/>
          <p:cNvSpPr/>
          <p:nvPr/>
        </p:nvSpPr>
        <p:spPr>
          <a:xfrm>
            <a:off x="7462599" y="686490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政府</a:t>
            </a:r>
            <a:endParaRPr lang="en-US" sz="1450" dirty="0"/>
          </a:p>
        </p:txBody>
      </p:sp>
      <p:sp>
        <p:nvSpPr>
          <p:cNvPr id="40" name="Text 35"/>
          <p:cNvSpPr/>
          <p:nvPr/>
        </p:nvSpPr>
        <p:spPr>
          <a:xfrm>
            <a:off x="7462599" y="7152680"/>
            <a:ext cx="621899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行政院數位發展部、勞動力發展署、經濟部能源署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45582"/>
            <a:ext cx="713423" cy="283250"/>
          </a:xfrm>
          <a:prstGeom prst="roundRect">
            <a:avLst>
              <a:gd name="adj" fmla="val 18835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6660" y="900827"/>
            <a:ext cx="507683" cy="17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基礎概念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790" y="1173242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什麼是 Gems？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031915" y="1961078"/>
            <a:ext cx="1280469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Gems 是 Google Gemini 的「自訂 AI 角色」功能。你可以設定 AI 的身份、語氣、專長、行為規則，等於幫自己請了一個「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永遠不會離職的 AI 員工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」。設定一次，之後隨時呼叫，不用重複下指令。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93790" y="1836063"/>
            <a:ext cx="22860" cy="68199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2684740"/>
            <a:ext cx="276010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如何進入 Gems？（5 個步驟）</a:t>
            </a:r>
            <a:endParaRPr lang="en-US" sz="1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0225" y="3099435"/>
            <a:ext cx="9129951" cy="3943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28891" y="6032782"/>
            <a:ext cx="1355620" cy="246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開啟側欄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928891" y="6349911"/>
            <a:ext cx="1355620" cy="33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點選左側的 Gem 管理工具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09774" y="6032782"/>
            <a:ext cx="1355621" cy="246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輸入設定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409774" y="6349911"/>
            <a:ext cx="1355621" cy="33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填寫名稱與指令說明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92770" y="3455279"/>
            <a:ext cx="1355620" cy="246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打開網站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3192770" y="3772409"/>
            <a:ext cx="1355620" cy="503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前往 gemini.google.com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94183" y="3455279"/>
            <a:ext cx="1355620" cy="246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儲存完成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0094183" y="3772409"/>
            <a:ext cx="1355620" cy="33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儲存後即可使用你的 Gem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90936" y="3455279"/>
            <a:ext cx="1355620" cy="246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建立 Gem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690936" y="3772409"/>
            <a:ext cx="1355620" cy="33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按下「建立新的 Gem」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3790" y="7168039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只需 5 個簡單步驟，你就能建立屬於自己的 AI 員工，隨時待命、永不離職。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75" y="625316"/>
            <a:ext cx="1191101" cy="425887"/>
          </a:xfrm>
          <a:prstGeom prst="roundRect">
            <a:avLst>
              <a:gd name="adj" fmla="val 17879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045" y="747593"/>
            <a:ext cx="181213" cy="181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0864" y="693301"/>
            <a:ext cx="64734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 #1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075" y="1141690"/>
            <a:ext cx="5665351" cy="708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說人話文案大師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29841" y="2189321"/>
            <a:ext cx="6572131" cy="5414843"/>
          </a:xfrm>
          <a:prstGeom prst="roundRect">
            <a:avLst>
              <a:gd name="adj" fmla="val 3013"/>
            </a:avLst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856417" y="2415659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這個 Gem 做什麼？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6417" y="2995970"/>
            <a:ext cx="6118979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幫你用口語化的方式寫 IG 文案、週報、公告，花幾十秒就搞定。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56417" y="3946922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使用範例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56417" y="4527233"/>
            <a:ext cx="6118979" cy="803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「幫我寫一則 IG 貼文，主題是 AI 讓週報只要 3 分鐘」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「幫我改寫這段公告，讓它更口語化」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56417" y="5585698"/>
            <a:ext cx="6118979" cy="1324451"/>
          </a:xfrm>
          <a:prstGeom prst="roundRect">
            <a:avLst>
              <a:gd name="adj" fmla="val 7186"/>
            </a:avLst>
          </a:prstGeom>
          <a:solidFill>
            <a:srgbClr val="C7C9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993" y="5929551"/>
            <a:ext cx="283250" cy="2265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92818" y="5868591"/>
            <a:ext cx="5156002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關鍵秘訣：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加上「判斷不了先問我」這句，可以過濾掉九成的廢稿！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599283" y="2415659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指令設定（照抄即可）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7599283" y="3024307"/>
            <a:ext cx="6245662" cy="4325183"/>
          </a:xfrm>
          <a:prstGeom prst="roundRect">
            <a:avLst>
              <a:gd name="adj" fmla="val 2201"/>
            </a:avLst>
          </a:prstGeom>
          <a:solidFill>
            <a:srgbClr val="F2F2F2"/>
          </a:solidFill>
          <a:ln/>
        </p:spPr>
      </p:sp>
      <p:sp>
        <p:nvSpPr>
          <p:cNvPr id="16" name="Shape 12"/>
          <p:cNvSpPr/>
          <p:nvPr/>
        </p:nvSpPr>
        <p:spPr>
          <a:xfrm>
            <a:off x="7587972" y="3024307"/>
            <a:ext cx="6268283" cy="4325183"/>
          </a:xfrm>
          <a:prstGeom prst="roundRect">
            <a:avLst>
              <a:gd name="adj" fmla="val 786"/>
            </a:avLst>
          </a:prstGeom>
          <a:solidFill>
            <a:srgbClr val="F2F2F2"/>
          </a:solidFill>
          <a:ln/>
        </p:spPr>
      </p:sp>
      <p:sp>
        <p:nvSpPr>
          <p:cNvPr id="17" name="Text 13"/>
          <p:cNvSpPr/>
          <p:nvPr/>
        </p:nvSpPr>
        <p:spPr>
          <a:xfrm>
            <a:off x="7814548" y="3194209"/>
            <a:ext cx="5815132" cy="3985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你是一位擅長口語化寫作的文案專家。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【你的風格】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像朋友聊天一樣寫，不要文謅謅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句子短、節奏快、有畫面感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適度使用 emoji 增加親切感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禁止使用：賦能、底層邏輯、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顆粒度、範式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【你的規則】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判斷不了的先問我，不要自己猜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每次產出至少給 2 個版本讓我選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如果我沒說目標受眾，先問我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53058"/>
            <a:ext cx="1105853" cy="370642"/>
          </a:xfrm>
          <a:prstGeom prst="roundRect">
            <a:avLst>
              <a:gd name="adj" fmla="val 18506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6186" y="756761"/>
            <a:ext cx="163235" cy="163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0978" y="714256"/>
            <a:ext cx="61626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 #2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097161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文件分析員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93790" y="219432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指令設定（照抄即可）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93790" y="2719864"/>
            <a:ext cx="6272451" cy="4649867"/>
          </a:xfrm>
          <a:prstGeom prst="roundRect">
            <a:avLst>
              <a:gd name="adj" fmla="val 1844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783669" y="2719864"/>
            <a:ext cx="6292691" cy="4649867"/>
          </a:xfrm>
          <a:prstGeom prst="roundRect">
            <a:avLst>
              <a:gd name="adj" fmla="val 659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987742" y="2872859"/>
            <a:ext cx="5884545" cy="434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你是一位專業的文件分析助理。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【你的任務】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收到文件後，先產出一份「重點摘要」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（不超過 10 點）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每個重點標注出處頁碼或段落位置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用繁體中文、條列式呈現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區分「事實」和「觀點/建議」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【你的規則】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如果文件超過 10 頁，先問我想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聚焦哪個部分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摘要完成後，主動問我：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「要不要針對某個重點展開？」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如果我說「整理成報告格式」，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就用標題+小節的方式重新排版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24857" y="2010608"/>
            <a:ext cx="6566297" cy="5565815"/>
          </a:xfrm>
          <a:prstGeom prst="roundRect">
            <a:avLst>
              <a:gd name="adj" fmla="val 2641"/>
            </a:avLst>
          </a:prstGeom>
          <a:solidFill>
            <a:srgbClr val="4285F4"/>
          </a:solidFill>
          <a:ln/>
        </p:spPr>
      </p:sp>
      <p:sp>
        <p:nvSpPr>
          <p:cNvPr id="11" name="Text 8"/>
          <p:cNvSpPr/>
          <p:nvPr/>
        </p:nvSpPr>
        <p:spPr>
          <a:xfrm>
            <a:off x="7628930" y="219432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這個 Gem 做什麼？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628930" y="2696885"/>
            <a:ext cx="615815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丟入 50 頁報告，自動提取重點、標注頁碼。搭配 Canvas 畫布功能邊商量邊改，直接匯出 Google Doc。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8930" y="350115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使用範例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628930" y="4003715"/>
            <a:ext cx="615815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上傳 PDF 後說：「幫我抓出這份報告的 5 大重點」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「把第 3 點展開，整理成可以給老闆看的格式」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8930" y="4895255"/>
            <a:ext cx="6158151" cy="1130141"/>
          </a:xfrm>
          <a:prstGeom prst="roundRect">
            <a:avLst>
              <a:gd name="adj" fmla="val 7587"/>
            </a:avLst>
          </a:prstGeom>
          <a:solidFill>
            <a:srgbClr val="C7C9E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003" y="5200293"/>
            <a:ext cx="255151" cy="2040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92227" y="5129927"/>
            <a:ext cx="5290780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進階技巧：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搭配 Gemini 的 Canvas 畫布功能，可以直接在畫布上邊看邊改，改完直接匯出成 Google Doc！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00576"/>
            <a:ext cx="984409" cy="317778"/>
          </a:xfrm>
          <a:prstGeom prst="roundRect">
            <a:avLst>
              <a:gd name="adj" fmla="val 19187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613" y="886897"/>
            <a:ext cx="145137" cy="1451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0259" y="854988"/>
            <a:ext cx="54911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 #3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93790" y="117633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數據整理員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663178" y="1960959"/>
            <a:ext cx="6561296" cy="5468064"/>
          </a:xfrm>
          <a:prstGeom prst="roundRect">
            <a:avLst>
              <a:gd name="adj" fmla="val 2389"/>
            </a:avLst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844629" y="210609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這個 Gem 做什麼？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4629" y="2534722"/>
            <a:ext cx="6198394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讓 AI 幫你寫 Google Sheets 指令。雜亂表格一鍵變整齊，深度關聯 Google 生態系。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4629" y="320230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使用範例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44629" y="3630930"/>
            <a:ext cx="6198394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「我有一張客戶名單，要按地區分類統計人數」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「幫我寫一個公式，把 A 欄的姓名拆成姓和名」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貼上 Google Sheets 連結，說「幫我整理這張表」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4629" y="4679275"/>
            <a:ext cx="6198394" cy="934283"/>
          </a:xfrm>
          <a:prstGeom prst="roundRect">
            <a:avLst>
              <a:gd name="adj" fmla="val 8158"/>
            </a:avLst>
          </a:prstGeom>
          <a:solidFill>
            <a:srgbClr val="C7C9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81" y="4937760"/>
            <a:ext cx="226814" cy="1814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4346" y="4869775"/>
            <a:ext cx="542722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進階技巧：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直接貼 Google Sheets 連結給 Gemini，它能深度關聯 Google 生態系，自動整理匯出！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544157" y="210609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指令設定（照抄即可）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544157" y="2552819"/>
            <a:ext cx="6300073" cy="4712970"/>
          </a:xfrm>
          <a:prstGeom prst="roundRect">
            <a:avLst>
              <a:gd name="adj" fmla="val 1617"/>
            </a:avLst>
          </a:prstGeom>
          <a:solidFill>
            <a:srgbClr val="F2F2F2"/>
          </a:solidFill>
          <a:ln/>
        </p:spPr>
      </p:sp>
      <p:sp>
        <p:nvSpPr>
          <p:cNvPr id="16" name="Shape 12"/>
          <p:cNvSpPr/>
          <p:nvPr/>
        </p:nvSpPr>
        <p:spPr>
          <a:xfrm>
            <a:off x="7535108" y="2552819"/>
            <a:ext cx="6318171" cy="4712970"/>
          </a:xfrm>
          <a:prstGeom prst="roundRect">
            <a:avLst>
              <a:gd name="adj" fmla="val 578"/>
            </a:avLst>
          </a:prstGeom>
          <a:solidFill>
            <a:srgbClr val="F2F2F2"/>
          </a:solidFill>
          <a:ln/>
        </p:spPr>
      </p:sp>
      <p:sp>
        <p:nvSpPr>
          <p:cNvPr id="17" name="Text 13"/>
          <p:cNvSpPr/>
          <p:nvPr/>
        </p:nvSpPr>
        <p:spPr>
          <a:xfrm>
            <a:off x="7716560" y="2688908"/>
            <a:ext cx="5955268" cy="444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你是一位 Google Sheets / Excel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數據整理專家。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【你的任務】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幫我寫公式、整理表格、清理數據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優先使用 Google Sheets 函數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（VLOOKUP、QUERY、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ARRAYFORMULA 等）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每個公式都要附上「這個公式在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做什麼」的一句話說明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【你的規則】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先問我數據長什麼樣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（欄位名稱、資料範圍）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如果我貼了表格截圖，先幫我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辨識欄位結構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複雜的需求拆成多個步驟，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一步一步教我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如果有更簡單的做法，主動告訴我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69965"/>
            <a:ext cx="988457" cy="317778"/>
          </a:xfrm>
          <a:prstGeom prst="roundRect">
            <a:avLst>
              <a:gd name="adj" fmla="val 19187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613" y="756285"/>
            <a:ext cx="145137" cy="1451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0259" y="724376"/>
            <a:ext cx="55316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 #4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93790" y="104572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高情商溝通助理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197548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指令設定（照抄即可）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2422208"/>
            <a:ext cx="6300073" cy="4974193"/>
          </a:xfrm>
          <a:prstGeom prst="roundRect">
            <a:avLst>
              <a:gd name="adj" fmla="val 1532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784741" y="2422208"/>
            <a:ext cx="6318171" cy="4974193"/>
          </a:xfrm>
          <a:prstGeom prst="roundRect">
            <a:avLst>
              <a:gd name="adj" fmla="val 547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966192" y="2558296"/>
            <a:ext cx="5955268" cy="4702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你是一位高情商的商務溝通顧問。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【你的角色】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你不會幫我直接答應客戶的要求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你會幫我用「專業但不得罪人」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的方式回覆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重點是：維護關係的同時，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保護我的權益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【你的規則】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我會貼上客戶的訊息，你幫我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寫回覆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每次給我 2 個版本：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「溫和版」和「堅定版」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如果涉及追加費用，幫我算出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合理的報價建議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回覆語氣：像資深 PM 在說話，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不卑不亢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禁止使用：「不好意思」開頭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（改用正面語句開頭）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13546" y="1830348"/>
            <a:ext cx="6561296" cy="5729288"/>
          </a:xfrm>
          <a:prstGeom prst="roundRect">
            <a:avLst>
              <a:gd name="adj" fmla="val 2280"/>
            </a:avLst>
          </a:prstGeom>
          <a:solidFill>
            <a:srgbClr val="4285F4"/>
          </a:solidFill>
          <a:ln/>
        </p:spPr>
      </p:sp>
      <p:sp>
        <p:nvSpPr>
          <p:cNvPr id="11" name="Text 8"/>
          <p:cNvSpPr/>
          <p:nvPr/>
        </p:nvSpPr>
        <p:spPr>
          <a:xfrm>
            <a:off x="7594997" y="197548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這個 Gem 做什麼？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4997" y="2404110"/>
            <a:ext cx="6198394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當客戶提出過分要求或反覆修改時，幫你用專業婉轉的語氣回覆，同時談追加預算、設定邊界。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94997" y="307169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使用範例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594997" y="3500318"/>
            <a:ext cx="6198394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「客戶說要免費多加 2 小時課程，怎麼回？」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「這個案子已經改了 5 次，我要怎麼設定修改次數上限？」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貼上客戶 LINE 訊息：「幫我想怎麼回」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594997" y="4548664"/>
            <a:ext cx="6198394" cy="934283"/>
          </a:xfrm>
          <a:prstGeom prst="roundRect">
            <a:avLst>
              <a:gd name="adj" fmla="val 8158"/>
            </a:avLst>
          </a:prstGeom>
          <a:solidFill>
            <a:srgbClr val="C7C9E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448" y="4807148"/>
            <a:ext cx="226814" cy="18145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184713" y="4739164"/>
            <a:ext cx="542722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關鍵秘訣：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它不是幫你吵架，是幫你把「不行」說得讓對方還想跟你合作！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00576"/>
            <a:ext cx="980837" cy="317778"/>
          </a:xfrm>
          <a:prstGeom prst="roundRect">
            <a:avLst>
              <a:gd name="adj" fmla="val 19187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613" y="886897"/>
            <a:ext cx="145137" cy="1451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0259" y="854988"/>
            <a:ext cx="54554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 #5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93790" y="117633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最強學習助手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663178" y="1960959"/>
            <a:ext cx="6561296" cy="5468064"/>
          </a:xfrm>
          <a:prstGeom prst="roundRect">
            <a:avLst>
              <a:gd name="adj" fmla="val 2389"/>
            </a:avLst>
          </a:prstGeom>
          <a:solidFill>
            <a:srgbClr val="4285F4"/>
          </a:solidFill>
          <a:ln/>
        </p:spPr>
      </p:sp>
      <p:sp>
        <p:nvSpPr>
          <p:cNvPr id="7" name="Text 4"/>
          <p:cNvSpPr/>
          <p:nvPr/>
        </p:nvSpPr>
        <p:spPr>
          <a:xfrm>
            <a:off x="844629" y="210609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這個 Gem 做什麼？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4629" y="2534722"/>
            <a:ext cx="6198394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用費曼學習法的人格，把複雜概念拆解成小孩也聽得懂的案例，讓你從被動接收變成主動輸出。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4629" y="320230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使用範例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44629" y="3630930"/>
            <a:ext cx="6198394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「教我什麼是 RAG（檢索增強生成）」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「我要準備一場關於 AI 的演講，幫我搞懂 Transformer 架構」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「用費曼學習法教我財務報表怎麼看」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4629" y="4679275"/>
            <a:ext cx="6198394" cy="934283"/>
          </a:xfrm>
          <a:prstGeom prst="roundRect">
            <a:avLst>
              <a:gd name="adj" fmla="val 8158"/>
            </a:avLst>
          </a:prstGeom>
          <a:solidFill>
            <a:srgbClr val="C7C9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81" y="4937760"/>
            <a:ext cx="226814" cy="1814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4346" y="4869775"/>
            <a:ext cx="542722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關鍵秘訣：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關鍵在「反問」機制——它會逼你用自己的話說出來，這才是真正的學會！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544157" y="210609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指令設定（照抄即可）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544157" y="2552819"/>
            <a:ext cx="6300073" cy="4712970"/>
          </a:xfrm>
          <a:prstGeom prst="roundRect">
            <a:avLst>
              <a:gd name="adj" fmla="val 1617"/>
            </a:avLst>
          </a:prstGeom>
          <a:solidFill>
            <a:srgbClr val="F2F2F2"/>
          </a:solidFill>
          <a:ln/>
        </p:spPr>
      </p:sp>
      <p:sp>
        <p:nvSpPr>
          <p:cNvPr id="16" name="Shape 12"/>
          <p:cNvSpPr/>
          <p:nvPr/>
        </p:nvSpPr>
        <p:spPr>
          <a:xfrm>
            <a:off x="7535108" y="2552819"/>
            <a:ext cx="6318171" cy="4712970"/>
          </a:xfrm>
          <a:prstGeom prst="roundRect">
            <a:avLst>
              <a:gd name="adj" fmla="val 578"/>
            </a:avLst>
          </a:prstGeom>
          <a:solidFill>
            <a:srgbClr val="F2F2F2"/>
          </a:solidFill>
          <a:ln/>
        </p:spPr>
      </p:sp>
      <p:sp>
        <p:nvSpPr>
          <p:cNvPr id="17" name="Text 13"/>
          <p:cNvSpPr/>
          <p:nvPr/>
        </p:nvSpPr>
        <p:spPr>
          <a:xfrm>
            <a:off x="7716560" y="2688908"/>
            <a:ext cx="5955268" cy="444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你是一位用費曼學習法教學的老師。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【你的教學方式】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把複雜概念用「小學生也聽得懂」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的比喻解釋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每個概念都配一個生活化的例子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解釋完後，反問我一個問題來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確認我真的懂了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如果我答錯，換一個角度重新解釋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【你的規則】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不要一次塞太多資訊，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一次講一個概念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先問我「你目前對這個主題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了解多少？」來判斷起點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每講完一段，問我：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「用你自己的話說一次？」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如果我能正確複述，</a:t>
            </a:r>
            <a:endParaRPr lang="en-US" sz="140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才進入下一個概念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1844"/>
            <a:ext cx="69695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三個讓 Gems 更好用的技巧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42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掌握這三個進階技巧，讓你的 AI 員工從「能用」升級到「好用」。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42467"/>
            <a:ext cx="4196358" cy="3265289"/>
          </a:xfrm>
          <a:prstGeom prst="roundRect">
            <a:avLst>
              <a:gd name="adj" fmla="val 448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51198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320230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2755761" y="337244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4" y="4109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給範例當參考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459986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在指令中加入「參考這個風格：[貼上範例文字]」，AI 就能模仿你要的調性。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51084" y="582465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讓 AI 有具體的學習對象，輸出品質立刻提升一個檔次。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6962" y="3542467"/>
            <a:ext cx="4196358" cy="3265289"/>
          </a:xfrm>
          <a:prstGeom prst="roundRect">
            <a:avLst>
              <a:gd name="adj" fmla="val 4481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6962" y="351198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3" name="Shape 11"/>
          <p:cNvSpPr/>
          <p:nvPr/>
        </p:nvSpPr>
        <p:spPr>
          <a:xfrm>
            <a:off x="6974860" y="320230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933" y="337244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74256" y="4109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設定先問後做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74256" y="459986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加上「開始工作前，先問我 3 個問題來確認需求」，避免 AI 自己腦補。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474256" y="5461754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這一句話能省下你大量修改時間，讓 AI 真正理解你的需求再動手。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640133" y="3542467"/>
            <a:ext cx="4196358" cy="3265289"/>
          </a:xfrm>
          <a:prstGeom prst="roundRect">
            <a:avLst>
              <a:gd name="adj" fmla="val 4481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640133" y="351198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98032" y="320230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11602105" y="337244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897427" y="4109442"/>
            <a:ext cx="32575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專事專辦，不做萬能 Gem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97427" y="459986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一個 Gem 只做一件事。不要把寫文案、分析數據、回客戶全部塞進同一個 Gem。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897427" y="582465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專注的 Gem 表現更穩定，輸出品質更一致，也更容易維護和優化。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6516"/>
            <a:ext cx="7340322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想讓整個團隊都會用 AI？找阿峰老師！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54697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熱門課程主題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1956197"/>
            <a:ext cx="425291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8506" y="195619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對話實戰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378506" y="2349460"/>
            <a:ext cx="64019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ChatGPT、Claude、Gemini 應用技巧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842736"/>
            <a:ext cx="425291" cy="4252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8506" y="284273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Prompt 工程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378506" y="3236000"/>
            <a:ext cx="64019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精準提問，讓 AI 變成你的超級助理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729276"/>
            <a:ext cx="425291" cy="4252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8506" y="372927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輔助寫作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378506" y="4122539"/>
            <a:ext cx="64019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報告、簡報、Email 效率翻倍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615815"/>
            <a:ext cx="425291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8506" y="461581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自動化工作流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378506" y="5009078"/>
            <a:ext cx="64019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 AI 串接你的日常流程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080653" y="1419463"/>
            <a:ext cx="5885974" cy="6113621"/>
          </a:xfrm>
          <a:prstGeom prst="roundRect">
            <a:avLst>
              <a:gd name="adj" fmla="val 2081"/>
            </a:avLst>
          </a:prstGeom>
          <a:solidFill>
            <a:srgbClr val="4285F4"/>
          </a:solidFill>
          <a:ln/>
        </p:spPr>
      </p:sp>
      <p:sp>
        <p:nvSpPr>
          <p:cNvPr id="17" name="Text 11"/>
          <p:cNvSpPr/>
          <p:nvPr/>
        </p:nvSpPr>
        <p:spPr>
          <a:xfrm>
            <a:off x="8250674" y="154697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企業包班培訓優勢</a:t>
            </a:r>
            <a:endParaRPr lang="en-US" sz="1650" dirty="0"/>
          </a:p>
        </p:txBody>
      </p:sp>
      <p:sp>
        <p:nvSpPr>
          <p:cNvPr id="18" name="Shape 12"/>
          <p:cNvSpPr/>
          <p:nvPr/>
        </p:nvSpPr>
        <p:spPr>
          <a:xfrm>
            <a:off x="8227814" y="1933337"/>
            <a:ext cx="45720" cy="67710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3"/>
          <p:cNvSpPr/>
          <p:nvPr/>
        </p:nvSpPr>
        <p:spPr>
          <a:xfrm>
            <a:off x="8466415" y="195619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100% 客製化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466415" y="2349460"/>
            <a:ext cx="53301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用你們公司的真實案例來教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27814" y="2819876"/>
            <a:ext cx="45720" cy="67710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16"/>
          <p:cNvSpPr/>
          <p:nvPr/>
        </p:nvSpPr>
        <p:spPr>
          <a:xfrm>
            <a:off x="8466415" y="284273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時數彈性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8466415" y="3236000"/>
            <a:ext cx="53301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從 2 小時講座到 2 天工作坊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227814" y="3706416"/>
            <a:ext cx="45720" cy="67710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5" name="Text 19"/>
          <p:cNvSpPr/>
          <p:nvPr/>
        </p:nvSpPr>
        <p:spPr>
          <a:xfrm>
            <a:off x="8466415" y="372927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即學即用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8466415" y="4122539"/>
            <a:ext cx="53301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課堂上就產出可帶回去用的模板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227814" y="4592955"/>
            <a:ext cx="45720" cy="67710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8" name="Text 22"/>
          <p:cNvSpPr/>
          <p:nvPr/>
        </p:nvSpPr>
        <p:spPr>
          <a:xfrm>
            <a:off x="8466415" y="461581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課後支持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8466415" y="5009078"/>
            <a:ext cx="53301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 Q&amp;A 和最佳實務更新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8250674" y="5475709"/>
            <a:ext cx="5545931" cy="28813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8250674" y="564796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洽詢企業包班</a:t>
            </a:r>
            <a:endParaRPr lang="en-US" sz="1650" dirty="0"/>
          </a:p>
        </p:txBody>
      </p:sp>
      <p:sp>
        <p:nvSpPr>
          <p:cNvPr id="32" name="Text 26"/>
          <p:cNvSpPr/>
          <p:nvPr/>
        </p:nvSpPr>
        <p:spPr>
          <a:xfrm>
            <a:off x="8250674" y="6041231"/>
            <a:ext cx="5545931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📧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ai@autolab.cloud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250674" y="6401753"/>
            <a:ext cx="5545931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https://www.autolab.cloud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8250674" y="6762274"/>
            <a:ext cx="5545931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📞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0976-715-102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8505825" y="7151489"/>
            <a:ext cx="529078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「你是機長，AI 是機組人員。」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8250674" y="7151489"/>
            <a:ext cx="22860" cy="238125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2026-03-08T01:10:07Z</dcterms:created>
  <dcterms:modified xsi:type="dcterms:W3CDTF">2026-03-08T01:10:07Z</dcterms:modified>
</cp:coreProperties>
</file>